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 id="2147483737" r:id="rId5"/>
  </p:sldMasterIdLst>
  <p:notesMasterIdLst>
    <p:notesMasterId r:id="rId19"/>
  </p:notesMasterIdLst>
  <p:handoutMasterIdLst>
    <p:handoutMasterId r:id="rId20"/>
  </p:handoutMasterIdLst>
  <p:sldIdLst>
    <p:sldId id="361" r:id="rId6"/>
    <p:sldId id="362" r:id="rId7"/>
    <p:sldId id="365" r:id="rId8"/>
    <p:sldId id="366" r:id="rId9"/>
    <p:sldId id="367" r:id="rId10"/>
    <p:sldId id="368" r:id="rId11"/>
    <p:sldId id="351" r:id="rId12"/>
    <p:sldId id="369" r:id="rId13"/>
    <p:sldId id="370" r:id="rId14"/>
    <p:sldId id="371" r:id="rId15"/>
    <p:sldId id="372" r:id="rId16"/>
    <p:sldId id="355" r:id="rId17"/>
    <p:sldId id="35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90" d="100"/>
          <a:sy n="90" d="100"/>
        </p:scale>
        <p:origin x="130" y="55"/>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9/7/2026</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9/7/2026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09340-4C6A-10B4-12FC-F4B7BE19F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FE55A-71EC-CFC3-8535-2719B81C3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9C3A5-36E1-0F54-40E9-EE52A1F65AF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effectLst/>
              <a:latin typeface="Segoe UI" panose="020B0502040204020203" pitchFamily="34" charset="0"/>
            </a:endParaRPr>
          </a:p>
          <a:p>
            <a:r>
              <a:rPr lang="en-US" dirty="0"/>
              <a:t>ID=d924773e-9a16-4d6d-9803-8cb819e99682
Recipe=text_billboard
Type=TextOnly
Variant=0
FamilyID=AccentBoxWalbaum_Zero</a:t>
            </a:r>
          </a:p>
        </p:txBody>
      </p:sp>
      <p:sp>
        <p:nvSpPr>
          <p:cNvPr id="4" name="Slide Number Placeholder 3">
            <a:extLst>
              <a:ext uri="{FF2B5EF4-FFF2-40B4-BE49-F238E27FC236}">
                <a16:creationId xmlns:a16="http://schemas.microsoft.com/office/drawing/2014/main" id="{2B4AD242-4853-D581-BA1B-045C2AD625B7}"/>
              </a:ext>
            </a:extLst>
          </p:cNvPr>
          <p:cNvSpPr>
            <a:spLocks noGrp="1"/>
          </p:cNvSpPr>
          <p:nvPr>
            <p:ph type="sldNum" sz="quarter" idx="5"/>
          </p:nvPr>
        </p:nvSpPr>
        <p:spPr/>
        <p:txBody>
          <a:bodyPr/>
          <a:lstStyle/>
          <a:p>
            <a:fld id="{8EAA36B1-75F6-458C-B388-8BC01E9857C8}" type="slidenum">
              <a:rPr lang="en-US" smtClean="0"/>
              <a:t>1</a:t>
            </a:fld>
            <a:endParaRPr lang="en-US" dirty="0"/>
          </a:p>
        </p:txBody>
      </p:sp>
    </p:spTree>
    <p:extLst>
      <p:ext uri="{BB962C8B-B14F-4D97-AF65-F5344CB8AC3E}">
        <p14:creationId xmlns:p14="http://schemas.microsoft.com/office/powerpoint/2010/main" val="51113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GB"/>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GB"/>
              <a:t>Click icon to add picture</a:t>
            </a:r>
            <a:endParaRPr lang="en-US" dirty="0"/>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GB"/>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GB"/>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GB"/>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GB"/>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dirty="0"/>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GB"/>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dirty="0"/>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GB"/>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GB"/>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GB"/>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GB"/>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GB"/>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GB"/>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GB"/>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GB"/>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GB"/>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GB"/>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GB"/>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GB"/>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dirty="0"/>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dirty="0"/>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GB"/>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useBgFill="1">
        <p:nvSpPr>
          <p:cNvPr id="8" name="Rectangle 7">
            <a:extLst>
              <a:ext uri="{FF2B5EF4-FFF2-40B4-BE49-F238E27FC236}">
                <a16:creationId xmlns:a16="http://schemas.microsoft.com/office/drawing/2014/main" id="{2C0FB30B-8639-9146-1153-76E912DAA4BE}"/>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8759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 useBgFill="1">
        <p:nvSpPr>
          <p:cNvPr id="7" name="Rectangle 6">
            <a:extLst>
              <a:ext uri="{FF2B5EF4-FFF2-40B4-BE49-F238E27FC236}">
                <a16:creationId xmlns:a16="http://schemas.microsoft.com/office/drawing/2014/main" id="{68FC41CA-5A09-089B-3FA3-0222A19FE19D}"/>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7196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useBgFill="1">
        <p:nvSpPr>
          <p:cNvPr id="7" name="Rectangle 6">
            <a:extLst>
              <a:ext uri="{FF2B5EF4-FFF2-40B4-BE49-F238E27FC236}">
                <a16:creationId xmlns:a16="http://schemas.microsoft.com/office/drawing/2014/main" id="{97947CB8-E333-9308-8D39-355DA0E5FC99}"/>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6717B2A2-E921-07D8-A40D-007B4651CF92}"/>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8E76F58-C684-65E9-CCC9-AF28640DB718}"/>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767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9/4/20XX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727077699"/>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t>9/4/20XX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2993280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r>
              <a:rPr lang="en-US"/>
              <a:t>9/4/20XX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A65A5C87-DF58-40C8-B092-1DE63DB4547E}" type="slidenum">
              <a:rPr lang="en-US" smtClean="0"/>
              <a:t>‹#›</a:t>
            </a:fld>
            <a:endParaRPr lang="en-US" dirty="0"/>
          </a:p>
        </p:txBody>
      </p:sp>
      <p:sp useBgFill="1">
        <p:nvSpPr>
          <p:cNvPr id="6" name="Rectangle 5">
            <a:extLst>
              <a:ext uri="{FF2B5EF4-FFF2-40B4-BE49-F238E27FC236}">
                <a16:creationId xmlns:a16="http://schemas.microsoft.com/office/drawing/2014/main" id="{9DEE2112-D6AA-9769-314D-CCBA8EB6E578}"/>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29153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9/4/20XX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8615934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9/4/20XX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7867210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t>9/4/20XX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3133591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911460884"/>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908007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26103372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9975654"/>
      </p:ext>
    </p:extLst>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85795063"/>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93703159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9/4/20XX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1130787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9/4/20XX</a:t>
            </a:r>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304673094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2D4D6-A819-0184-9FEF-4E0CFE65DD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27FD49-9920-0374-E569-A564A12BD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8598227-CBEE-844F-CDFB-BF3DC44B4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332" y="625331"/>
            <a:ext cx="10941336" cy="5594493"/>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D0823B-D121-C380-D658-4197AF759997}"/>
              </a:ext>
            </a:extLst>
          </p:cNvPr>
          <p:cNvSpPr>
            <a:spLocks noGrp="1"/>
          </p:cNvSpPr>
          <p:nvPr>
            <p:ph type="ctrTitle"/>
          </p:nvPr>
        </p:nvSpPr>
        <p:spPr>
          <a:xfrm>
            <a:off x="1444628" y="738826"/>
            <a:ext cx="9211463" cy="2014033"/>
          </a:xfrm>
        </p:spPr>
        <p:txBody>
          <a:bodyPr anchor="b">
            <a:normAutofit/>
          </a:bodyPr>
          <a:lstStyle/>
          <a:p>
            <a:r>
              <a:rPr lang="en-US" sz="2000" b="1" dirty="0"/>
              <a:t>Kingdom of Saudi Arabia</a:t>
            </a:r>
            <a:br>
              <a:rPr lang="en-US" sz="2000" dirty="0"/>
            </a:br>
            <a:r>
              <a:rPr lang="en-US" sz="2000" b="1" dirty="0"/>
              <a:t>Ministry of Education</a:t>
            </a:r>
            <a:br>
              <a:rPr lang="en-US" sz="2000" dirty="0"/>
            </a:br>
            <a:r>
              <a:rPr lang="en-US" sz="2000" b="1" dirty="0"/>
              <a:t>King Faisal University</a:t>
            </a:r>
            <a:br>
              <a:rPr lang="en-US" sz="2000" dirty="0"/>
            </a:br>
            <a:r>
              <a:rPr lang="en-US" sz="2000" b="1" dirty="0"/>
              <a:t>College of Computer Sciences </a:t>
            </a:r>
            <a:br>
              <a:rPr lang="ar-SA" sz="2000" b="1" dirty="0"/>
            </a:br>
            <a:r>
              <a:rPr lang="en-US" sz="2000" b="1" dirty="0"/>
              <a:t>&amp; Information Technology</a:t>
            </a:r>
            <a:br>
              <a:rPr lang="en-US" sz="2800" dirty="0"/>
            </a:br>
            <a:endParaRPr lang="en-US" sz="2800" dirty="0"/>
          </a:p>
        </p:txBody>
      </p:sp>
      <p:sp>
        <p:nvSpPr>
          <p:cNvPr id="3" name="Subtitle 2">
            <a:extLst>
              <a:ext uri="{FF2B5EF4-FFF2-40B4-BE49-F238E27FC236}">
                <a16:creationId xmlns:a16="http://schemas.microsoft.com/office/drawing/2014/main" id="{BBF6ED9D-02D1-6EC9-1725-63D3F984CF4F}"/>
              </a:ext>
            </a:extLst>
          </p:cNvPr>
          <p:cNvSpPr>
            <a:spLocks noGrp="1"/>
          </p:cNvSpPr>
          <p:nvPr>
            <p:ph type="subTitle" idx="1"/>
          </p:nvPr>
        </p:nvSpPr>
        <p:spPr>
          <a:xfrm>
            <a:off x="1963591" y="4737733"/>
            <a:ext cx="8264815" cy="1031695"/>
          </a:xfrm>
        </p:spPr>
        <p:txBody>
          <a:bodyPr anchor="t">
            <a:normAutofit/>
          </a:bodyPr>
          <a:lstStyle/>
          <a:p>
            <a:r>
              <a:rPr lang="en-US" sz="2400" b="1" dirty="0"/>
              <a:t>Course:</a:t>
            </a:r>
            <a:br>
              <a:rPr lang="ar-SA" sz="2400" b="1" dirty="0"/>
            </a:br>
            <a:r>
              <a:rPr lang="en-US" sz="2400" b="1" dirty="0"/>
              <a:t> Data Structures and Algorithms</a:t>
            </a:r>
          </a:p>
        </p:txBody>
      </p:sp>
      <p:sp>
        <p:nvSpPr>
          <p:cNvPr id="12" name="Rectangle 11">
            <a:extLst>
              <a:ext uri="{FF2B5EF4-FFF2-40B4-BE49-F238E27FC236}">
                <a16:creationId xmlns:a16="http://schemas.microsoft.com/office/drawing/2014/main" id="{906EAF6A-7FCF-35C0-4B80-13D55D1DD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180" y="4923526"/>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B2631A7F-3DBE-D394-5230-3BA0BB0B7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476678" y="4269049"/>
            <a:ext cx="9147364" cy="18288"/>
          </a:xfrm>
          <a:custGeom>
            <a:avLst/>
            <a:gdLst>
              <a:gd name="connsiteX0" fmla="*/ 0 w 9147364"/>
              <a:gd name="connsiteY0" fmla="*/ 18288 h 18288"/>
              <a:gd name="connsiteX1" fmla="*/ 9147364 w 9147364"/>
              <a:gd name="connsiteY1" fmla="*/ 18288 h 18288"/>
              <a:gd name="connsiteX2" fmla="*/ 9147364 w 9147364"/>
              <a:gd name="connsiteY2" fmla="*/ 0 h 18288"/>
              <a:gd name="connsiteX3" fmla="*/ 0 w 9147364"/>
              <a:gd name="connsiteY3" fmla="*/ 0 h 18288"/>
            </a:gdLst>
            <a:ahLst/>
            <a:cxnLst>
              <a:cxn ang="0">
                <a:pos x="connsiteX0" y="connsiteY0"/>
              </a:cxn>
              <a:cxn ang="0">
                <a:pos x="connsiteX1" y="connsiteY1"/>
              </a:cxn>
              <a:cxn ang="0">
                <a:pos x="connsiteX2" y="connsiteY2"/>
              </a:cxn>
              <a:cxn ang="0">
                <a:pos x="connsiteX3" y="connsiteY3"/>
              </a:cxn>
            </a:cxnLst>
            <a:rect l="l" t="t" r="r" b="b"/>
            <a:pathLst>
              <a:path w="9147364" h="18288">
                <a:moveTo>
                  <a:pt x="0" y="18288"/>
                </a:moveTo>
                <a:lnTo>
                  <a:pt x="9147364" y="18288"/>
                </a:lnTo>
                <a:lnTo>
                  <a:pt x="9147364" y="0"/>
                </a:lnTo>
                <a:lnTo>
                  <a:pt x="0" y="0"/>
                </a:lnTo>
                <a:close/>
              </a:path>
            </a:pathLst>
          </a:cu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descr="A logo with different colors&#10;&#10;AI-generated content may be incorrect.">
            <a:extLst>
              <a:ext uri="{FF2B5EF4-FFF2-40B4-BE49-F238E27FC236}">
                <a16:creationId xmlns:a16="http://schemas.microsoft.com/office/drawing/2014/main" id="{D2DD2AAC-B519-68B7-8824-F448B3B9C397}"/>
              </a:ext>
            </a:extLst>
          </p:cNvPr>
          <p:cNvPicPr>
            <a:picLocks noChangeAspect="1"/>
          </p:cNvPicPr>
          <p:nvPr/>
        </p:nvPicPr>
        <p:blipFill>
          <a:blip r:embed="rId3"/>
          <a:stretch>
            <a:fillRect/>
          </a:stretch>
        </p:blipFill>
        <p:spPr>
          <a:xfrm>
            <a:off x="2010344" y="669330"/>
            <a:ext cx="1104104" cy="1809853"/>
          </a:xfrm>
          <a:prstGeom prst="rect">
            <a:avLst/>
          </a:prstGeom>
        </p:spPr>
      </p:pic>
      <p:pic>
        <p:nvPicPr>
          <p:cNvPr id="13" name="Picture 12" descr="A logo of a university&#10;&#10;AI-generated content may be incorrect.">
            <a:extLst>
              <a:ext uri="{FF2B5EF4-FFF2-40B4-BE49-F238E27FC236}">
                <a16:creationId xmlns:a16="http://schemas.microsoft.com/office/drawing/2014/main" id="{9E0D8CFC-3B53-D5DB-A271-2DFA7852462F}"/>
              </a:ext>
            </a:extLst>
          </p:cNvPr>
          <p:cNvPicPr>
            <a:picLocks noChangeAspect="1"/>
          </p:cNvPicPr>
          <p:nvPr/>
        </p:nvPicPr>
        <p:blipFill>
          <a:blip r:embed="rId4"/>
          <a:stretch>
            <a:fillRect/>
          </a:stretch>
        </p:blipFill>
        <p:spPr>
          <a:xfrm>
            <a:off x="8696124" y="625331"/>
            <a:ext cx="1927918" cy="2014033"/>
          </a:xfrm>
          <a:prstGeom prst="rect">
            <a:avLst/>
          </a:prstGeom>
        </p:spPr>
      </p:pic>
      <p:sp>
        <p:nvSpPr>
          <p:cNvPr id="17" name="TextBox 16">
            <a:extLst>
              <a:ext uri="{FF2B5EF4-FFF2-40B4-BE49-F238E27FC236}">
                <a16:creationId xmlns:a16="http://schemas.microsoft.com/office/drawing/2014/main" id="{96BCFBE6-E521-7093-EFCA-40CAE7D36DA3}"/>
              </a:ext>
            </a:extLst>
          </p:cNvPr>
          <p:cNvSpPr txBox="1"/>
          <p:nvPr/>
        </p:nvSpPr>
        <p:spPr>
          <a:xfrm>
            <a:off x="2437178" y="3248498"/>
            <a:ext cx="7317640" cy="707886"/>
          </a:xfrm>
          <a:prstGeom prst="rect">
            <a:avLst/>
          </a:prstGeom>
          <a:noFill/>
        </p:spPr>
        <p:txBody>
          <a:bodyPr wrap="square" rtlCol="0">
            <a:spAutoFit/>
          </a:bodyPr>
          <a:lstStyle/>
          <a:p>
            <a:pPr algn="ctr"/>
            <a:r>
              <a:rPr lang="en-US" sz="4000" b="1" dirty="0">
                <a:solidFill>
                  <a:srgbClr val="F5A700"/>
                </a:solidFill>
              </a:rPr>
              <a:t>Library Management System</a:t>
            </a:r>
          </a:p>
        </p:txBody>
      </p:sp>
    </p:spTree>
    <p:extLst>
      <p:ext uri="{BB962C8B-B14F-4D97-AF65-F5344CB8AC3E}">
        <p14:creationId xmlns:p14="http://schemas.microsoft.com/office/powerpoint/2010/main" val="2175971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68829-6BE7-D7CA-0401-9655397E5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67FB3-2CE0-2F0C-1E1D-6C9F6FE97AA2}"/>
              </a:ext>
            </a:extLst>
          </p:cNvPr>
          <p:cNvSpPr>
            <a:spLocks noGrp="1"/>
          </p:cNvSpPr>
          <p:nvPr>
            <p:ph type="title"/>
          </p:nvPr>
        </p:nvSpPr>
        <p:spPr/>
        <p:txBody>
          <a:bodyPr/>
          <a:lstStyle/>
          <a:p>
            <a:r>
              <a:rPr lang="en-US" b="1" dirty="0"/>
              <a:t>Group:</a:t>
            </a:r>
            <a:r>
              <a:rPr lang="en-US" dirty="0"/>
              <a:t> </a:t>
            </a:r>
            <a:r>
              <a:rPr lang="en-US" b="1" dirty="0"/>
              <a:t>E</a:t>
            </a:r>
          </a:p>
        </p:txBody>
      </p:sp>
      <p:sp>
        <p:nvSpPr>
          <p:cNvPr id="14" name="Text Placeholder 13">
            <a:extLst>
              <a:ext uri="{FF2B5EF4-FFF2-40B4-BE49-F238E27FC236}">
                <a16:creationId xmlns:a16="http://schemas.microsoft.com/office/drawing/2014/main" id="{B5412EDC-1E1E-8F46-570C-ADFE683FA88C}"/>
              </a:ext>
            </a:extLst>
          </p:cNvPr>
          <p:cNvSpPr>
            <a:spLocks noGrp="1"/>
          </p:cNvSpPr>
          <p:nvPr>
            <p:ph type="body" sz="quarter" idx="1"/>
          </p:nvPr>
        </p:nvSpPr>
        <p:spPr>
          <a:xfrm>
            <a:off x="1158240" y="2333738"/>
            <a:ext cx="4937760" cy="823912"/>
          </a:xfrm>
        </p:spPr>
        <p:txBody>
          <a:bodyPr/>
          <a:lstStyle/>
          <a:p>
            <a:r>
              <a:rPr lang="en-US" dirty="0" err="1"/>
              <a:t>Teame</a:t>
            </a:r>
            <a:r>
              <a:rPr lang="en-US" dirty="0"/>
              <a:t> Members</a:t>
            </a:r>
          </a:p>
        </p:txBody>
      </p:sp>
      <p:sp>
        <p:nvSpPr>
          <p:cNvPr id="15" name="Text Placeholder 14">
            <a:extLst>
              <a:ext uri="{FF2B5EF4-FFF2-40B4-BE49-F238E27FC236}">
                <a16:creationId xmlns:a16="http://schemas.microsoft.com/office/drawing/2014/main" id="{7168E704-C93B-60BB-ED91-285BAECFFF7F}"/>
              </a:ext>
            </a:extLst>
          </p:cNvPr>
          <p:cNvSpPr>
            <a:spLocks noGrp="1"/>
          </p:cNvSpPr>
          <p:nvPr>
            <p:ph type="body" idx="3"/>
          </p:nvPr>
        </p:nvSpPr>
        <p:spPr>
          <a:xfrm>
            <a:off x="6403891" y="2333738"/>
            <a:ext cx="4937760" cy="823912"/>
          </a:xfrm>
        </p:spPr>
        <p:txBody>
          <a:bodyPr/>
          <a:lstStyle/>
          <a:p>
            <a:r>
              <a:rPr lang="en-US" dirty="0"/>
              <a:t>Supervised by</a:t>
            </a:r>
          </a:p>
        </p:txBody>
      </p:sp>
      <p:sp>
        <p:nvSpPr>
          <p:cNvPr id="12" name="Content Placeholder 11">
            <a:extLst>
              <a:ext uri="{FF2B5EF4-FFF2-40B4-BE49-F238E27FC236}">
                <a16:creationId xmlns:a16="http://schemas.microsoft.com/office/drawing/2014/main" id="{A95E07EB-A7EB-6214-6B68-4D8758DA8C1C}"/>
              </a:ext>
            </a:extLst>
          </p:cNvPr>
          <p:cNvSpPr>
            <a:spLocks noGrp="1"/>
          </p:cNvSpPr>
          <p:nvPr>
            <p:ph sz="half" idx="2"/>
          </p:nvPr>
        </p:nvSpPr>
        <p:spPr>
          <a:xfrm>
            <a:off x="1237435" y="3249725"/>
            <a:ext cx="4937760" cy="2968512"/>
          </a:xfrm>
        </p:spPr>
        <p:txBody>
          <a:bodyPr/>
          <a:lstStyle/>
          <a:p>
            <a:r>
              <a:rPr lang="en-US" dirty="0"/>
              <a:t>Reda Alqatifi [ID]</a:t>
            </a:r>
          </a:p>
          <a:p>
            <a:r>
              <a:rPr lang="en-US" dirty="0"/>
              <a:t>Ali </a:t>
            </a:r>
            <a:r>
              <a:rPr lang="en-US" dirty="0" err="1"/>
              <a:t>Alburahim</a:t>
            </a:r>
            <a:r>
              <a:rPr lang="en-US" dirty="0"/>
              <a:t> [ID]</a:t>
            </a:r>
          </a:p>
          <a:p>
            <a:r>
              <a:rPr lang="en-US" dirty="0"/>
              <a:t>Mohammed </a:t>
            </a:r>
            <a:r>
              <a:rPr lang="en-US" dirty="0" err="1"/>
              <a:t>Aljasem</a:t>
            </a:r>
            <a:r>
              <a:rPr lang="en-US" dirty="0"/>
              <a:t> [ID]</a:t>
            </a:r>
          </a:p>
          <a:p>
            <a:r>
              <a:rPr lang="en-US" dirty="0"/>
              <a:t>Mahdi </a:t>
            </a:r>
            <a:r>
              <a:rPr lang="en-US" dirty="0" err="1"/>
              <a:t>Alhashim</a:t>
            </a:r>
            <a:r>
              <a:rPr lang="en-US" dirty="0"/>
              <a:t> [ID]</a:t>
            </a:r>
          </a:p>
        </p:txBody>
      </p:sp>
      <p:sp>
        <p:nvSpPr>
          <p:cNvPr id="13" name="Content Placeholder 12">
            <a:extLst>
              <a:ext uri="{FF2B5EF4-FFF2-40B4-BE49-F238E27FC236}">
                <a16:creationId xmlns:a16="http://schemas.microsoft.com/office/drawing/2014/main" id="{88F1F0D1-72E8-5399-9F45-4D9DA8D972C0}"/>
              </a:ext>
            </a:extLst>
          </p:cNvPr>
          <p:cNvSpPr>
            <a:spLocks noGrp="1"/>
          </p:cNvSpPr>
          <p:nvPr>
            <p:ph sz="quarter" idx="4"/>
          </p:nvPr>
        </p:nvSpPr>
        <p:spPr>
          <a:xfrm>
            <a:off x="6345936" y="3203687"/>
            <a:ext cx="4937760" cy="930431"/>
          </a:xfrm>
        </p:spPr>
        <p:txBody>
          <a:bodyPr/>
          <a:lstStyle/>
          <a:p>
            <a:r>
              <a:rPr lang="en-US" dirty="0"/>
              <a:t>Dr. Sami Abdulsalam </a:t>
            </a:r>
            <a:r>
              <a:rPr lang="en-US" dirty="0" err="1"/>
              <a:t>Alnawali</a:t>
            </a:r>
            <a:endParaRPr lang="en-US" sz="1800" dirty="0"/>
          </a:p>
        </p:txBody>
      </p:sp>
      <p:sp>
        <p:nvSpPr>
          <p:cNvPr id="16" name="Slide Number Placeholder 5">
            <a:extLst>
              <a:ext uri="{FF2B5EF4-FFF2-40B4-BE49-F238E27FC236}">
                <a16:creationId xmlns:a16="http://schemas.microsoft.com/office/drawing/2014/main" id="{86710CC3-438C-D675-29CD-ED72B638D6A8}"/>
              </a:ext>
            </a:extLst>
          </p:cNvPr>
          <p:cNvSpPr>
            <a:spLocks noGrp="1"/>
          </p:cNvSpPr>
          <p:nvPr>
            <p:ph type="sldNum" sz="quarter" idx="12"/>
          </p:nvPr>
        </p:nvSpPr>
        <p:spPr/>
        <p:txBody>
          <a:bodyPr/>
          <a:lstStyle/>
          <a:p>
            <a:fld id="{A65A5C87-DF58-40C8-B092-1DE63DB4547E}" type="slidenum">
              <a:rPr lang="en-US" smtClean="0"/>
              <a:pPr/>
              <a:t>2</a:t>
            </a:fld>
            <a:endParaRPr lang="en-US" dirty="0"/>
          </a:p>
        </p:txBody>
      </p:sp>
      <p:sp>
        <p:nvSpPr>
          <p:cNvPr id="8" name="TextBox 7">
            <a:extLst>
              <a:ext uri="{FF2B5EF4-FFF2-40B4-BE49-F238E27FC236}">
                <a16:creationId xmlns:a16="http://schemas.microsoft.com/office/drawing/2014/main" id="{26991940-E177-6519-341D-CD8EBC4D6B2D}"/>
              </a:ext>
            </a:extLst>
          </p:cNvPr>
          <p:cNvSpPr txBox="1"/>
          <p:nvPr/>
        </p:nvSpPr>
        <p:spPr>
          <a:xfrm>
            <a:off x="4088763" y="5848905"/>
            <a:ext cx="4014474" cy="369332"/>
          </a:xfrm>
          <a:prstGeom prst="rect">
            <a:avLst/>
          </a:prstGeom>
          <a:noFill/>
        </p:spPr>
        <p:txBody>
          <a:bodyPr wrap="square" rtlCol="0">
            <a:spAutoFit/>
          </a:bodyPr>
          <a:lstStyle/>
          <a:p>
            <a:pPr algn="ctr"/>
            <a:r>
              <a:rPr lang="en-US" b="1" dirty="0"/>
              <a:t>Date:</a:t>
            </a:r>
            <a:r>
              <a:rPr lang="en-US" dirty="0"/>
              <a:t> December 2025</a:t>
            </a:r>
          </a:p>
        </p:txBody>
      </p:sp>
    </p:spTree>
    <p:extLst>
      <p:ext uri="{BB962C8B-B14F-4D97-AF65-F5344CB8AC3E}">
        <p14:creationId xmlns:p14="http://schemas.microsoft.com/office/powerpoint/2010/main" val="3196390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624F9-2768-BB34-5766-8B3E30B93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28D3D-B51A-440F-FE30-513A5EBF43F0}"/>
              </a:ext>
            </a:extLst>
          </p:cNvPr>
          <p:cNvSpPr>
            <a:spLocks noGrp="1"/>
          </p:cNvSpPr>
          <p:nvPr>
            <p:ph type="title"/>
          </p:nvPr>
        </p:nvSpPr>
        <p:spPr/>
        <p:txBody>
          <a:bodyPr/>
          <a:lstStyle/>
          <a:p>
            <a:r>
              <a:rPr lang="en-US" b="1" dirty="0"/>
              <a:t>Project Overview</a:t>
            </a:r>
          </a:p>
        </p:txBody>
      </p:sp>
      <p:sp>
        <p:nvSpPr>
          <p:cNvPr id="14" name="Text Placeholder 13">
            <a:extLst>
              <a:ext uri="{FF2B5EF4-FFF2-40B4-BE49-F238E27FC236}">
                <a16:creationId xmlns:a16="http://schemas.microsoft.com/office/drawing/2014/main" id="{E6629857-CA9E-492E-EF03-30A8C04C22A6}"/>
              </a:ext>
            </a:extLst>
          </p:cNvPr>
          <p:cNvSpPr>
            <a:spLocks noGrp="1"/>
          </p:cNvSpPr>
          <p:nvPr>
            <p:ph type="body" idx="1"/>
          </p:nvPr>
        </p:nvSpPr>
        <p:spPr>
          <a:xfrm>
            <a:off x="677334" y="1729491"/>
            <a:ext cx="4937760" cy="823912"/>
          </a:xfrm>
        </p:spPr>
        <p:txBody>
          <a:bodyPr/>
          <a:lstStyle/>
          <a:p>
            <a:r>
              <a:rPr lang="en-GB" sz="2800" b="1" dirty="0"/>
              <a:t>Introduction:</a:t>
            </a:r>
          </a:p>
        </p:txBody>
      </p:sp>
      <p:sp>
        <p:nvSpPr>
          <p:cNvPr id="12" name="Content Placeholder 11">
            <a:extLst>
              <a:ext uri="{FF2B5EF4-FFF2-40B4-BE49-F238E27FC236}">
                <a16:creationId xmlns:a16="http://schemas.microsoft.com/office/drawing/2014/main" id="{DE30DC61-D4ED-5907-C7A9-0DEC4CB880AA}"/>
              </a:ext>
            </a:extLst>
          </p:cNvPr>
          <p:cNvSpPr>
            <a:spLocks noGrp="1"/>
          </p:cNvSpPr>
          <p:nvPr>
            <p:ph sz="half" idx="2"/>
          </p:nvPr>
        </p:nvSpPr>
        <p:spPr>
          <a:xfrm>
            <a:off x="5439823" y="2553403"/>
            <a:ext cx="4459089" cy="2968512"/>
          </a:xfrm>
        </p:spPr>
        <p:txBody>
          <a:bodyPr/>
          <a:lstStyle/>
          <a:p>
            <a:r>
              <a:rPr lang="en-GB" dirty="0"/>
              <a:t>Implement custom Data Structures from scratch (No STL containers).</a:t>
            </a:r>
          </a:p>
          <a:p>
            <a:r>
              <a:rPr lang="en-GB" dirty="0"/>
              <a:t>Apply efficient Sorting and Searching algorithms.</a:t>
            </a:r>
          </a:p>
          <a:p>
            <a:r>
              <a:rPr lang="en-GB" dirty="0"/>
              <a:t>Manage Dynamic Memory Allocation to optimize performance.</a:t>
            </a:r>
          </a:p>
          <a:p>
            <a:r>
              <a:rPr lang="en-GB" dirty="0" err="1"/>
              <a:t>Analyze</a:t>
            </a:r>
            <a:r>
              <a:rPr lang="en-GB" dirty="0"/>
              <a:t> Time and Space Complexity of the implemented solutions.</a:t>
            </a:r>
          </a:p>
        </p:txBody>
      </p:sp>
      <p:sp>
        <p:nvSpPr>
          <p:cNvPr id="16" name="Slide Number Placeholder 5">
            <a:extLst>
              <a:ext uri="{FF2B5EF4-FFF2-40B4-BE49-F238E27FC236}">
                <a16:creationId xmlns:a16="http://schemas.microsoft.com/office/drawing/2014/main" id="{90C67F8D-9726-FDB3-2BCF-2420E8A4D31B}"/>
              </a:ext>
            </a:extLst>
          </p:cNvPr>
          <p:cNvSpPr>
            <a:spLocks noGrp="1"/>
          </p:cNvSpPr>
          <p:nvPr>
            <p:ph type="sldNum" sz="quarter" idx="12"/>
          </p:nvPr>
        </p:nvSpPr>
        <p:spPr/>
        <p:txBody>
          <a:bodyPr/>
          <a:lstStyle/>
          <a:p>
            <a:fld id="{A65A5C87-DF58-40C8-B092-1DE63DB4547E}" type="slidenum">
              <a:rPr lang="en-US" smtClean="0"/>
              <a:pPr/>
              <a:t>3</a:t>
            </a:fld>
            <a:endParaRPr lang="en-US" dirty="0"/>
          </a:p>
        </p:txBody>
      </p:sp>
      <p:sp>
        <p:nvSpPr>
          <p:cNvPr id="3" name="Text Placeholder 13">
            <a:extLst>
              <a:ext uri="{FF2B5EF4-FFF2-40B4-BE49-F238E27FC236}">
                <a16:creationId xmlns:a16="http://schemas.microsoft.com/office/drawing/2014/main" id="{5A9647DA-B933-5528-0350-2540657E8F93}"/>
              </a:ext>
            </a:extLst>
          </p:cNvPr>
          <p:cNvSpPr txBox="1">
            <a:spLocks/>
          </p:cNvSpPr>
          <p:nvPr/>
        </p:nvSpPr>
        <p:spPr>
          <a:xfrm>
            <a:off x="5439823" y="1729491"/>
            <a:ext cx="4937760"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Key Objectives:</a:t>
            </a:r>
            <a:endParaRPr lang="en-GB" dirty="0"/>
          </a:p>
        </p:txBody>
      </p:sp>
      <p:sp>
        <p:nvSpPr>
          <p:cNvPr id="4" name="Content Placeholder 11">
            <a:extLst>
              <a:ext uri="{FF2B5EF4-FFF2-40B4-BE49-F238E27FC236}">
                <a16:creationId xmlns:a16="http://schemas.microsoft.com/office/drawing/2014/main" id="{FBB1A978-4260-CE09-3ECF-22C28FCF500D}"/>
              </a:ext>
            </a:extLst>
          </p:cNvPr>
          <p:cNvSpPr txBox="1">
            <a:spLocks/>
          </p:cNvSpPr>
          <p:nvPr/>
        </p:nvSpPr>
        <p:spPr>
          <a:xfrm>
            <a:off x="613539" y="2553403"/>
            <a:ext cx="4564517" cy="29685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 console-based application developed in C++ to manage library operations efficiently.</a:t>
            </a:r>
          </a:p>
          <a:p>
            <a:r>
              <a:rPr lang="en-GB" dirty="0"/>
              <a:t>Focuses on manipulating dynamic data using pointers rather than fixed arrays.</a:t>
            </a:r>
          </a:p>
        </p:txBody>
      </p:sp>
    </p:spTree>
    <p:extLst>
      <p:ext uri="{BB962C8B-B14F-4D97-AF65-F5344CB8AC3E}">
        <p14:creationId xmlns:p14="http://schemas.microsoft.com/office/powerpoint/2010/main" val="2975050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9DDC-80E3-57CC-5815-17A965510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FB379-43F2-7B2E-79B8-CFBA62AC37D1}"/>
              </a:ext>
            </a:extLst>
          </p:cNvPr>
          <p:cNvSpPr>
            <a:spLocks noGrp="1"/>
          </p:cNvSpPr>
          <p:nvPr>
            <p:ph type="title"/>
          </p:nvPr>
        </p:nvSpPr>
        <p:spPr/>
        <p:txBody>
          <a:bodyPr>
            <a:normAutofit/>
          </a:bodyPr>
          <a:lstStyle/>
          <a:p>
            <a:r>
              <a:rPr lang="en-US" sz="3200" b="1" dirty="0"/>
              <a:t>Data Structures Implemented</a:t>
            </a:r>
          </a:p>
        </p:txBody>
      </p:sp>
      <p:sp>
        <p:nvSpPr>
          <p:cNvPr id="14" name="Text Placeholder 13">
            <a:extLst>
              <a:ext uri="{FF2B5EF4-FFF2-40B4-BE49-F238E27FC236}">
                <a16:creationId xmlns:a16="http://schemas.microsoft.com/office/drawing/2014/main" id="{636692F0-432A-1BBA-725B-428B818AF8A2}"/>
              </a:ext>
            </a:extLst>
          </p:cNvPr>
          <p:cNvSpPr>
            <a:spLocks noGrp="1"/>
          </p:cNvSpPr>
          <p:nvPr>
            <p:ph type="body" idx="1"/>
          </p:nvPr>
        </p:nvSpPr>
        <p:spPr>
          <a:xfrm>
            <a:off x="557801" y="1729491"/>
            <a:ext cx="4937760" cy="823912"/>
          </a:xfrm>
        </p:spPr>
        <p:txBody>
          <a:bodyPr/>
          <a:lstStyle/>
          <a:p>
            <a:r>
              <a:rPr lang="en-GB" dirty="0"/>
              <a:t>Doubly Linked List (For Books)</a:t>
            </a:r>
            <a:endParaRPr lang="en-GB" b="1" dirty="0"/>
          </a:p>
        </p:txBody>
      </p:sp>
      <p:sp>
        <p:nvSpPr>
          <p:cNvPr id="12" name="Content Placeholder 11">
            <a:extLst>
              <a:ext uri="{FF2B5EF4-FFF2-40B4-BE49-F238E27FC236}">
                <a16:creationId xmlns:a16="http://schemas.microsoft.com/office/drawing/2014/main" id="{E0BB150C-43AA-A40C-1EA6-3908A0FF0A1E}"/>
              </a:ext>
            </a:extLst>
          </p:cNvPr>
          <p:cNvSpPr>
            <a:spLocks noGrp="1"/>
          </p:cNvSpPr>
          <p:nvPr>
            <p:ph sz="half" idx="2"/>
          </p:nvPr>
        </p:nvSpPr>
        <p:spPr>
          <a:xfrm>
            <a:off x="5439823" y="2553403"/>
            <a:ext cx="4220023" cy="2968512"/>
          </a:xfrm>
        </p:spPr>
        <p:txBody>
          <a:bodyPr/>
          <a:lstStyle/>
          <a:p>
            <a:r>
              <a:rPr lang="en-GB" dirty="0"/>
              <a:t>Structure: Node contains Section Name + Next Pointer.</a:t>
            </a:r>
          </a:p>
          <a:p>
            <a:r>
              <a:rPr lang="en-GB" dirty="0"/>
              <a:t>Why? Memory efficient and sufficient for linear categories display.</a:t>
            </a:r>
          </a:p>
        </p:txBody>
      </p:sp>
      <p:sp>
        <p:nvSpPr>
          <p:cNvPr id="16" name="Slide Number Placeholder 5">
            <a:extLst>
              <a:ext uri="{FF2B5EF4-FFF2-40B4-BE49-F238E27FC236}">
                <a16:creationId xmlns:a16="http://schemas.microsoft.com/office/drawing/2014/main" id="{E1BB552E-621C-43A5-988B-C7714FF74617}"/>
              </a:ext>
            </a:extLst>
          </p:cNvPr>
          <p:cNvSpPr>
            <a:spLocks noGrp="1"/>
          </p:cNvSpPr>
          <p:nvPr>
            <p:ph type="sldNum" sz="quarter" idx="12"/>
          </p:nvPr>
        </p:nvSpPr>
        <p:spPr/>
        <p:txBody>
          <a:bodyPr/>
          <a:lstStyle/>
          <a:p>
            <a:fld id="{A65A5C87-DF58-40C8-B092-1DE63DB4547E}" type="slidenum">
              <a:rPr lang="en-US" smtClean="0"/>
              <a:pPr/>
              <a:t>4</a:t>
            </a:fld>
            <a:endParaRPr lang="en-US" dirty="0"/>
          </a:p>
        </p:txBody>
      </p:sp>
      <p:sp>
        <p:nvSpPr>
          <p:cNvPr id="3" name="Text Placeholder 13">
            <a:extLst>
              <a:ext uri="{FF2B5EF4-FFF2-40B4-BE49-F238E27FC236}">
                <a16:creationId xmlns:a16="http://schemas.microsoft.com/office/drawing/2014/main" id="{FF0E0163-4466-A392-4B19-A8493EB5E2DB}"/>
              </a:ext>
            </a:extLst>
          </p:cNvPr>
          <p:cNvSpPr txBox="1">
            <a:spLocks/>
          </p:cNvSpPr>
          <p:nvPr/>
        </p:nvSpPr>
        <p:spPr>
          <a:xfrm>
            <a:off x="5376028" y="1729491"/>
            <a:ext cx="4937760"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b="0" dirty="0"/>
              <a:t>Singly Linked List (For Sections)</a:t>
            </a:r>
          </a:p>
        </p:txBody>
      </p:sp>
      <p:sp>
        <p:nvSpPr>
          <p:cNvPr id="4" name="Content Placeholder 11">
            <a:extLst>
              <a:ext uri="{FF2B5EF4-FFF2-40B4-BE49-F238E27FC236}">
                <a16:creationId xmlns:a16="http://schemas.microsoft.com/office/drawing/2014/main" id="{DB1BD276-94D9-1513-48DA-0893C821E1D1}"/>
              </a:ext>
            </a:extLst>
          </p:cNvPr>
          <p:cNvSpPr txBox="1">
            <a:spLocks/>
          </p:cNvSpPr>
          <p:nvPr/>
        </p:nvSpPr>
        <p:spPr>
          <a:xfrm>
            <a:off x="613539" y="2553403"/>
            <a:ext cx="4347613" cy="29685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Structure: Each node contains Book Data + Next Pointer + Previous Pointer.</a:t>
            </a:r>
          </a:p>
          <a:p>
            <a:r>
              <a:rPr lang="en-GB" dirty="0"/>
              <a:t>Why? Allows bidirectional traversal and efficient deletion O(1) when the node pointer is known.</a:t>
            </a:r>
          </a:p>
        </p:txBody>
      </p:sp>
    </p:spTree>
    <p:extLst>
      <p:ext uri="{BB962C8B-B14F-4D97-AF65-F5344CB8AC3E}">
        <p14:creationId xmlns:p14="http://schemas.microsoft.com/office/powerpoint/2010/main" val="1477722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0E8F6-0674-CAF9-22CB-3B42A6AE1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28A96-70EC-C125-D65E-1133EE056315}"/>
              </a:ext>
            </a:extLst>
          </p:cNvPr>
          <p:cNvSpPr>
            <a:spLocks noGrp="1"/>
          </p:cNvSpPr>
          <p:nvPr>
            <p:ph type="title"/>
          </p:nvPr>
        </p:nvSpPr>
        <p:spPr>
          <a:xfrm>
            <a:off x="972029" y="305268"/>
            <a:ext cx="10168128" cy="1179576"/>
          </a:xfrm>
        </p:spPr>
        <p:txBody>
          <a:bodyPr>
            <a:normAutofit fontScale="90000"/>
          </a:bodyPr>
          <a:lstStyle/>
          <a:p>
            <a:br>
              <a:rPr lang="ar-SA" b="1" dirty="0"/>
            </a:br>
            <a:r>
              <a:rPr lang="en-US" b="1" dirty="0"/>
              <a:t>Algorithm Used: Merge Sort</a:t>
            </a:r>
            <a:r>
              <a:rPr lang="ar-SA" b="1" dirty="0"/>
              <a:t>	</a:t>
            </a:r>
            <a:endParaRPr lang="en-US" b="1" dirty="0"/>
          </a:p>
        </p:txBody>
      </p:sp>
      <p:sp>
        <p:nvSpPr>
          <p:cNvPr id="12" name="Content Placeholder 11">
            <a:extLst>
              <a:ext uri="{FF2B5EF4-FFF2-40B4-BE49-F238E27FC236}">
                <a16:creationId xmlns:a16="http://schemas.microsoft.com/office/drawing/2014/main" id="{6754EB2C-7E2B-EB7A-76D9-CFFE8592500A}"/>
              </a:ext>
            </a:extLst>
          </p:cNvPr>
          <p:cNvSpPr>
            <a:spLocks noGrp="1"/>
          </p:cNvSpPr>
          <p:nvPr>
            <p:ph sz="half" idx="2"/>
          </p:nvPr>
        </p:nvSpPr>
        <p:spPr>
          <a:xfrm>
            <a:off x="708334" y="2367333"/>
            <a:ext cx="10078396" cy="2741611"/>
          </a:xfrm>
        </p:spPr>
        <p:txBody>
          <a:bodyPr>
            <a:noAutofit/>
          </a:bodyPr>
          <a:lstStyle/>
          <a:p>
            <a:r>
              <a:rPr lang="en-GB" b="1" dirty="0"/>
              <a:t>The Divide and Conquer Approach:</a:t>
            </a:r>
            <a:r>
              <a:rPr lang="ar-SA" b="1" dirty="0"/>
              <a:t> </a:t>
            </a:r>
            <a:r>
              <a:rPr lang="en-GB" dirty="0"/>
              <a:t>We selected Merge Sort as our primary sorting engine. Operating on the "Divide and Conquer" principle, the algorithm recursively splits the book list into smaller sub-lists until they are atomic. It then reconstructs (merges) them back together in the correct order. This recursive approach is particularly elegant and effective for Linked Lists.</a:t>
            </a:r>
            <a:endParaRPr lang="ar-SA" dirty="0"/>
          </a:p>
          <a:p>
            <a:r>
              <a:rPr lang="en-GB" b="1" dirty="0"/>
              <a:t>Performance &amp; Suitability:</a:t>
            </a:r>
            <a:r>
              <a:rPr lang="ar-SA" b="1" dirty="0"/>
              <a:t> </a:t>
            </a:r>
            <a:r>
              <a:rPr lang="en-GB" dirty="0"/>
              <a:t>Our choice was driven by the specific nature of our data structure. Unlike Arrays, Linked Lists do not support random access, which makes algorithms like Quick Sort less efficient here. Merge Sort, however, excels with sequential access patterns. It guarantees a stable time complexity of O(N log N), making it vastly superior to basic algorithms like Bubble Sort O(N^2) for handling large datasets.</a:t>
            </a:r>
          </a:p>
        </p:txBody>
      </p:sp>
      <p:sp>
        <p:nvSpPr>
          <p:cNvPr id="16" name="Slide Number Placeholder 5">
            <a:extLst>
              <a:ext uri="{FF2B5EF4-FFF2-40B4-BE49-F238E27FC236}">
                <a16:creationId xmlns:a16="http://schemas.microsoft.com/office/drawing/2014/main" id="{6076116B-AE8D-61AE-37AD-1FA1A7B07E5F}"/>
              </a:ext>
            </a:extLst>
          </p:cNvPr>
          <p:cNvSpPr>
            <a:spLocks noGrp="1"/>
          </p:cNvSpPr>
          <p:nvPr>
            <p:ph type="sldNum" sz="quarter" idx="12"/>
          </p:nvPr>
        </p:nvSpPr>
        <p:spPr/>
        <p:txBody>
          <a:bodyPr/>
          <a:lstStyle/>
          <a:p>
            <a:fld id="{A65A5C87-DF58-40C8-B092-1DE63DB4547E}" type="slidenum">
              <a:rPr lang="en-US" smtClean="0"/>
              <a:pPr/>
              <a:t>5</a:t>
            </a:fld>
            <a:endParaRPr lang="en-US" dirty="0"/>
          </a:p>
        </p:txBody>
      </p:sp>
    </p:spTree>
    <p:extLst>
      <p:ext uri="{BB962C8B-B14F-4D97-AF65-F5344CB8AC3E}">
        <p14:creationId xmlns:p14="http://schemas.microsoft.com/office/powerpoint/2010/main" val="132476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ACD2D-947D-E28D-BEDF-32AA30E6F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1694B-7690-5444-6A96-D4DCEB49F0A5}"/>
              </a:ext>
            </a:extLst>
          </p:cNvPr>
          <p:cNvSpPr>
            <a:spLocks noGrp="1"/>
          </p:cNvSpPr>
          <p:nvPr>
            <p:ph type="title"/>
          </p:nvPr>
        </p:nvSpPr>
        <p:spPr>
          <a:xfrm>
            <a:off x="833806" y="564054"/>
            <a:ext cx="10168128" cy="1179576"/>
          </a:xfrm>
        </p:spPr>
        <p:txBody>
          <a:bodyPr>
            <a:normAutofit/>
          </a:bodyPr>
          <a:lstStyle/>
          <a:p>
            <a:r>
              <a:rPr lang="en-US" sz="3200" b="1" dirty="0"/>
              <a:t>Algorithms: Searching</a:t>
            </a:r>
          </a:p>
        </p:txBody>
      </p:sp>
      <p:sp>
        <p:nvSpPr>
          <p:cNvPr id="12" name="Content Placeholder 11">
            <a:extLst>
              <a:ext uri="{FF2B5EF4-FFF2-40B4-BE49-F238E27FC236}">
                <a16:creationId xmlns:a16="http://schemas.microsoft.com/office/drawing/2014/main" id="{88F7E492-B176-298F-E7B2-2D0D2BD627FA}"/>
              </a:ext>
            </a:extLst>
          </p:cNvPr>
          <p:cNvSpPr>
            <a:spLocks noGrp="1"/>
          </p:cNvSpPr>
          <p:nvPr>
            <p:ph sz="half" idx="2"/>
          </p:nvPr>
        </p:nvSpPr>
        <p:spPr>
          <a:xfrm>
            <a:off x="873140" y="2191896"/>
            <a:ext cx="9732838" cy="2741611"/>
          </a:xfrm>
        </p:spPr>
        <p:txBody>
          <a:bodyPr>
            <a:noAutofit/>
          </a:bodyPr>
          <a:lstStyle/>
          <a:p>
            <a:r>
              <a:rPr lang="en-GB" sz="2400" b="1" dirty="0"/>
              <a:t>Algorithm Used: </a:t>
            </a:r>
            <a:r>
              <a:rPr lang="en-GB" sz="2400" dirty="0"/>
              <a:t>Linear Search (Smart Implementation)Method: Iterates through nodes to match user input.</a:t>
            </a:r>
          </a:p>
          <a:p>
            <a:r>
              <a:rPr lang="en-GB" sz="2400" b="1" dirty="0"/>
              <a:t>Enhanced Features:</a:t>
            </a:r>
          </a:p>
          <a:p>
            <a:pPr lvl="1"/>
            <a:r>
              <a:rPr lang="en-GB" sz="2400" dirty="0"/>
              <a:t>Partial Matching: Can find "Potter" using the keyword "Pot".</a:t>
            </a:r>
          </a:p>
          <a:p>
            <a:pPr lvl="1"/>
            <a:r>
              <a:rPr lang="en-GB" sz="2400" dirty="0"/>
              <a:t>Case Insensitivity: Converts input and data to lowercase before comparison.</a:t>
            </a:r>
          </a:p>
          <a:p>
            <a:r>
              <a:rPr lang="en-GB" sz="2400" b="1" dirty="0"/>
              <a:t>Complexity: </a:t>
            </a:r>
            <a:r>
              <a:rPr lang="en-GB" sz="2400" dirty="0"/>
              <a:t>Worst-case Time Complexity of O(N).</a:t>
            </a:r>
          </a:p>
        </p:txBody>
      </p:sp>
      <p:sp>
        <p:nvSpPr>
          <p:cNvPr id="16" name="Slide Number Placeholder 5">
            <a:extLst>
              <a:ext uri="{FF2B5EF4-FFF2-40B4-BE49-F238E27FC236}">
                <a16:creationId xmlns:a16="http://schemas.microsoft.com/office/drawing/2014/main" id="{9060333D-A6E7-6B55-3051-7A504486F1FA}"/>
              </a:ext>
            </a:extLst>
          </p:cNvPr>
          <p:cNvSpPr>
            <a:spLocks noGrp="1"/>
          </p:cNvSpPr>
          <p:nvPr>
            <p:ph type="sldNum" sz="quarter" idx="12"/>
          </p:nvPr>
        </p:nvSpPr>
        <p:spPr/>
        <p:txBody>
          <a:bodyPr/>
          <a:lstStyle/>
          <a:p>
            <a:fld id="{A65A5C87-DF58-40C8-B092-1DE63DB4547E}" type="slidenum">
              <a:rPr lang="en-US" smtClean="0"/>
              <a:pPr/>
              <a:t>6</a:t>
            </a:fld>
            <a:endParaRPr lang="en-US" dirty="0"/>
          </a:p>
        </p:txBody>
      </p:sp>
    </p:spTree>
    <p:extLst>
      <p:ext uri="{BB962C8B-B14F-4D97-AF65-F5344CB8AC3E}">
        <p14:creationId xmlns:p14="http://schemas.microsoft.com/office/powerpoint/2010/main" val="1239049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209E4-B947-4446-AD42-C1B3A0C1F583}"/>
              </a:ext>
            </a:extLst>
          </p:cNvPr>
          <p:cNvSpPr>
            <a:spLocks noGrp="1"/>
          </p:cNvSpPr>
          <p:nvPr>
            <p:ph type="title"/>
          </p:nvPr>
        </p:nvSpPr>
        <p:spPr/>
        <p:txBody>
          <a:bodyPr>
            <a:normAutofit/>
          </a:bodyPr>
          <a:lstStyle/>
          <a:p>
            <a:r>
              <a:rPr lang="en-US" sz="3200" b="1" dirty="0"/>
              <a:t>Complexity Analysis</a:t>
            </a:r>
          </a:p>
        </p:txBody>
      </p:sp>
      <p:graphicFrame>
        <p:nvGraphicFramePr>
          <p:cNvPr id="8" name="Table 9">
            <a:extLst>
              <a:ext uri="{FF2B5EF4-FFF2-40B4-BE49-F238E27FC236}">
                <a16:creationId xmlns:a16="http://schemas.microsoft.com/office/drawing/2014/main" id="{1BE60BCC-2676-47EB-A76E-FAE649D9F1CE}"/>
              </a:ext>
            </a:extLst>
          </p:cNvPr>
          <p:cNvGraphicFramePr>
            <a:graphicFrameLocks noGrp="1"/>
          </p:cNvGraphicFramePr>
          <p:nvPr>
            <p:ph idx="1"/>
            <p:extLst>
              <p:ext uri="{D42A27DB-BD31-4B8C-83A1-F6EECF244321}">
                <p14:modId xmlns:p14="http://schemas.microsoft.com/office/powerpoint/2010/main" val="1652762740"/>
              </p:ext>
            </p:extLst>
          </p:nvPr>
        </p:nvGraphicFramePr>
        <p:xfrm>
          <a:off x="1865026" y="2304227"/>
          <a:ext cx="8461947" cy="3174910"/>
        </p:xfrm>
        <a:graphic>
          <a:graphicData uri="http://schemas.openxmlformats.org/drawingml/2006/table">
            <a:tbl>
              <a:tblPr firstRow="1" bandRow="1">
                <a:tableStyleId>{5C22544A-7EE6-4342-B048-85BDC9FD1C3A}</a:tableStyleId>
              </a:tblPr>
              <a:tblGrid>
                <a:gridCol w="2820649">
                  <a:extLst>
                    <a:ext uri="{9D8B030D-6E8A-4147-A177-3AD203B41FA5}">
                      <a16:colId xmlns:a16="http://schemas.microsoft.com/office/drawing/2014/main" val="3045239117"/>
                    </a:ext>
                  </a:extLst>
                </a:gridCol>
                <a:gridCol w="2820649">
                  <a:extLst>
                    <a:ext uri="{9D8B030D-6E8A-4147-A177-3AD203B41FA5}">
                      <a16:colId xmlns:a16="http://schemas.microsoft.com/office/drawing/2014/main" val="2866263490"/>
                    </a:ext>
                  </a:extLst>
                </a:gridCol>
                <a:gridCol w="2820649">
                  <a:extLst>
                    <a:ext uri="{9D8B030D-6E8A-4147-A177-3AD203B41FA5}">
                      <a16:colId xmlns:a16="http://schemas.microsoft.com/office/drawing/2014/main" val="2960101666"/>
                    </a:ext>
                  </a:extLst>
                </a:gridCol>
              </a:tblGrid>
              <a:tr h="444289">
                <a:tc>
                  <a:txBody>
                    <a:bodyPr/>
                    <a:lstStyle/>
                    <a:p>
                      <a:pPr algn="ctr"/>
                      <a:r>
                        <a:rPr lang="en-US" dirty="0"/>
                        <a:t>Operation </a:t>
                      </a:r>
                    </a:p>
                  </a:txBody>
                  <a:tcPr anchor="ctr"/>
                </a:tc>
                <a:tc>
                  <a:txBody>
                    <a:bodyPr/>
                    <a:lstStyle/>
                    <a:p>
                      <a:pPr algn="ctr"/>
                      <a:r>
                        <a:rPr lang="en-US" dirty="0"/>
                        <a:t>Algorithm / Method </a:t>
                      </a:r>
                    </a:p>
                  </a:txBody>
                  <a:tcPr anchor="ctr"/>
                </a:tc>
                <a:tc>
                  <a:txBody>
                    <a:bodyPr/>
                    <a:lstStyle/>
                    <a:p>
                      <a:pPr algn="ctr"/>
                      <a:r>
                        <a:rPr lang="en-US" dirty="0"/>
                        <a:t>Time Complexity</a:t>
                      </a:r>
                    </a:p>
                  </a:txBody>
                  <a:tcPr anchor="ctr"/>
                </a:tc>
                <a:extLst>
                  <a:ext uri="{0D108BD9-81ED-4DB2-BD59-A6C34878D82A}">
                    <a16:rowId xmlns:a16="http://schemas.microsoft.com/office/drawing/2014/main" val="1361584937"/>
                  </a:ext>
                </a:extLst>
              </a:tr>
              <a:tr h="516800">
                <a:tc>
                  <a:txBody>
                    <a:bodyPr/>
                    <a:lstStyle/>
                    <a:p>
                      <a:pPr algn="ctr"/>
                      <a:r>
                        <a:rPr lang="en-US" dirty="0"/>
                        <a:t>Sorting</a:t>
                      </a:r>
                    </a:p>
                  </a:txBody>
                  <a:tcPr anchor="ctr"/>
                </a:tc>
                <a:tc>
                  <a:txBody>
                    <a:bodyPr/>
                    <a:lstStyle/>
                    <a:p>
                      <a:pPr algn="ctr"/>
                      <a:r>
                        <a:rPr lang="en-US" dirty="0"/>
                        <a:t>Marge Sort</a:t>
                      </a:r>
                    </a:p>
                  </a:txBody>
                  <a:tcPr anchor="ctr"/>
                </a:tc>
                <a:tc>
                  <a:txBody>
                    <a:bodyPr/>
                    <a:lstStyle/>
                    <a:p>
                      <a:pPr algn="ctr"/>
                      <a:r>
                        <a:rPr lang="en-US" dirty="0"/>
                        <a:t>O(N log N)</a:t>
                      </a:r>
                    </a:p>
                  </a:txBody>
                  <a:tcPr anchor="ctr"/>
                </a:tc>
                <a:extLst>
                  <a:ext uri="{0D108BD9-81ED-4DB2-BD59-A6C34878D82A}">
                    <a16:rowId xmlns:a16="http://schemas.microsoft.com/office/drawing/2014/main" val="728394759"/>
                  </a:ext>
                </a:extLst>
              </a:tr>
              <a:tr h="516800">
                <a:tc>
                  <a:txBody>
                    <a:bodyPr/>
                    <a:lstStyle/>
                    <a:p>
                      <a:pPr algn="ctr"/>
                      <a:r>
                        <a:rPr lang="en-US" dirty="0"/>
                        <a:t>Searching</a:t>
                      </a:r>
                    </a:p>
                  </a:txBody>
                  <a:tcPr anchor="ctr"/>
                </a:tc>
                <a:tc>
                  <a:txBody>
                    <a:bodyPr/>
                    <a:lstStyle/>
                    <a:p>
                      <a:pPr algn="ctr"/>
                      <a:r>
                        <a:rPr lang="en-US" dirty="0"/>
                        <a:t>Linear Search</a:t>
                      </a:r>
                    </a:p>
                  </a:txBody>
                  <a:tcPr anchor="ctr"/>
                </a:tc>
                <a:tc>
                  <a:txBody>
                    <a:bodyPr/>
                    <a:lstStyle/>
                    <a:p>
                      <a:pPr algn="ctr"/>
                      <a:r>
                        <a:rPr lang="en-US" dirty="0"/>
                        <a:t>O(N)</a:t>
                      </a:r>
                    </a:p>
                  </a:txBody>
                  <a:tcPr anchor="ctr"/>
                </a:tc>
                <a:extLst>
                  <a:ext uri="{0D108BD9-81ED-4DB2-BD59-A6C34878D82A}">
                    <a16:rowId xmlns:a16="http://schemas.microsoft.com/office/drawing/2014/main" val="2624865998"/>
                  </a:ext>
                </a:extLst>
              </a:tr>
              <a:tr h="516800">
                <a:tc>
                  <a:txBody>
                    <a:bodyPr/>
                    <a:lstStyle/>
                    <a:p>
                      <a:pPr algn="ctr"/>
                      <a:r>
                        <a:rPr lang="en-US" dirty="0"/>
                        <a:t>Insertion</a:t>
                      </a:r>
                    </a:p>
                  </a:txBody>
                  <a:tcPr anchor="ctr"/>
                </a:tc>
                <a:tc>
                  <a:txBody>
                    <a:bodyPr/>
                    <a:lstStyle/>
                    <a:p>
                      <a:pPr algn="ctr"/>
                      <a:r>
                        <a:rPr lang="en-US" dirty="0"/>
                        <a:t>Traversal to End</a:t>
                      </a:r>
                    </a:p>
                  </a:txBody>
                  <a:tcPr anchor="ctr"/>
                </a:tc>
                <a:tc>
                  <a:txBody>
                    <a:bodyPr/>
                    <a:lstStyle/>
                    <a:p>
                      <a:pPr algn="ctr"/>
                      <a:r>
                        <a:rPr lang="en-US" dirty="0"/>
                        <a:t>O(N)</a:t>
                      </a:r>
                    </a:p>
                  </a:txBody>
                  <a:tcPr anchor="ctr"/>
                </a:tc>
                <a:extLst>
                  <a:ext uri="{0D108BD9-81ED-4DB2-BD59-A6C34878D82A}">
                    <a16:rowId xmlns:a16="http://schemas.microsoft.com/office/drawing/2014/main" val="678921114"/>
                  </a:ext>
                </a:extLst>
              </a:tr>
              <a:tr h="516800">
                <a:tc>
                  <a:txBody>
                    <a:bodyPr/>
                    <a:lstStyle/>
                    <a:p>
                      <a:pPr algn="ctr"/>
                      <a:r>
                        <a:rPr lang="en-US" dirty="0"/>
                        <a:t>Deletion</a:t>
                      </a:r>
                    </a:p>
                  </a:txBody>
                  <a:tcPr anchor="ctr"/>
                </a:tc>
                <a:tc>
                  <a:txBody>
                    <a:bodyPr/>
                    <a:lstStyle/>
                    <a:p>
                      <a:pPr algn="ctr"/>
                      <a:r>
                        <a:rPr lang="en-US" dirty="0"/>
                        <a:t>Search &amp; Remove</a:t>
                      </a:r>
                    </a:p>
                  </a:txBody>
                  <a:tcPr anchor="ctr"/>
                </a:tc>
                <a:tc>
                  <a:txBody>
                    <a:bodyPr/>
                    <a:lstStyle/>
                    <a:p>
                      <a:pPr algn="ctr"/>
                      <a:r>
                        <a:rPr lang="en-US" dirty="0"/>
                        <a:t>O(N)</a:t>
                      </a:r>
                    </a:p>
                  </a:txBody>
                  <a:tcPr anchor="ctr"/>
                </a:tc>
                <a:extLst>
                  <a:ext uri="{0D108BD9-81ED-4DB2-BD59-A6C34878D82A}">
                    <a16:rowId xmlns:a16="http://schemas.microsoft.com/office/drawing/2014/main" val="1152158595"/>
                  </a:ext>
                </a:extLst>
              </a:tr>
              <a:tr h="663421">
                <a:tc>
                  <a:txBody>
                    <a:bodyPr/>
                    <a:lstStyle/>
                    <a:p>
                      <a:pPr algn="ctr"/>
                      <a:r>
                        <a:rPr lang="en-US" dirty="0"/>
                        <a:t>Space</a:t>
                      </a:r>
                    </a:p>
                  </a:txBody>
                  <a:tcPr anchor="ctr"/>
                </a:tc>
                <a:tc>
                  <a:txBody>
                    <a:bodyPr/>
                    <a:lstStyle/>
                    <a:p>
                      <a:pPr algn="ctr"/>
                      <a:r>
                        <a:rPr lang="en-US" dirty="0"/>
                        <a:t>Dynamic Nodes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O(N)</a:t>
                      </a:r>
                    </a:p>
                    <a:p>
                      <a:pPr algn="ctr"/>
                      <a:endParaRPr lang="en-US" dirty="0"/>
                    </a:p>
                  </a:txBody>
                  <a:tcPr anchor="ctr"/>
                </a:tc>
                <a:extLst>
                  <a:ext uri="{0D108BD9-81ED-4DB2-BD59-A6C34878D82A}">
                    <a16:rowId xmlns:a16="http://schemas.microsoft.com/office/drawing/2014/main" val="1805037392"/>
                  </a:ext>
                </a:extLst>
              </a:tr>
            </a:tbl>
          </a:graphicData>
        </a:graphic>
      </p:graphicFrame>
      <p:sp>
        <p:nvSpPr>
          <p:cNvPr id="10" name="Slide Number Placeholder 5">
            <a:extLst>
              <a:ext uri="{FF2B5EF4-FFF2-40B4-BE49-F238E27FC236}">
                <a16:creationId xmlns:a16="http://schemas.microsoft.com/office/drawing/2014/main" id="{27357B90-43D4-43A9-9C2B-156AED8FFFEC}"/>
              </a:ext>
            </a:extLst>
          </p:cNvPr>
          <p:cNvSpPr>
            <a:spLocks noGrp="1"/>
          </p:cNvSpPr>
          <p:nvPr>
            <p:ph type="sldNum" sz="quarter" idx="12"/>
          </p:nvPr>
        </p:nvSpPr>
        <p:spPr/>
        <p:txBody>
          <a:bodyPr/>
          <a:lstStyle/>
          <a:p>
            <a:fld id="{A65A5C87-DF58-40C8-B092-1DE63DB4547E}" type="slidenum">
              <a:rPr lang="en-US" smtClean="0"/>
              <a:pPr/>
              <a:t>7</a:t>
            </a:fld>
            <a:endParaRPr lang="en-US" dirty="0"/>
          </a:p>
        </p:txBody>
      </p:sp>
      <p:sp>
        <p:nvSpPr>
          <p:cNvPr id="12" name="TextBox 11">
            <a:extLst>
              <a:ext uri="{FF2B5EF4-FFF2-40B4-BE49-F238E27FC236}">
                <a16:creationId xmlns:a16="http://schemas.microsoft.com/office/drawing/2014/main" id="{4719DF34-7951-E78C-BB05-20F0F6FAFB92}"/>
              </a:ext>
            </a:extLst>
          </p:cNvPr>
          <p:cNvSpPr txBox="1"/>
          <p:nvPr/>
        </p:nvSpPr>
        <p:spPr>
          <a:xfrm>
            <a:off x="2701521" y="5582086"/>
            <a:ext cx="6660446" cy="646331"/>
          </a:xfrm>
          <a:prstGeom prst="rect">
            <a:avLst/>
          </a:prstGeom>
          <a:noFill/>
        </p:spPr>
        <p:txBody>
          <a:bodyPr wrap="square" rtlCol="0">
            <a:spAutoFit/>
          </a:bodyPr>
          <a:lstStyle/>
          <a:p>
            <a:pPr algn="ctr"/>
            <a:r>
              <a:rPr lang="en-GB" b="1" dirty="0">
                <a:solidFill>
                  <a:srgbClr val="F5A700"/>
                </a:solidFill>
              </a:rPr>
              <a:t>Note:</a:t>
            </a:r>
            <a:r>
              <a:rPr lang="en-GB" dirty="0">
                <a:solidFill>
                  <a:srgbClr val="F5A700"/>
                </a:solidFill>
              </a:rPr>
              <a:t> </a:t>
            </a:r>
            <a:r>
              <a:rPr lang="en-GB" dirty="0"/>
              <a:t>Space complexity is efficient as memory is allocated only when a book is added.</a:t>
            </a:r>
            <a:endParaRPr lang="en-US" dirty="0"/>
          </a:p>
        </p:txBody>
      </p:sp>
    </p:spTree>
    <p:extLst>
      <p:ext uri="{BB962C8B-B14F-4D97-AF65-F5344CB8AC3E}">
        <p14:creationId xmlns:p14="http://schemas.microsoft.com/office/powerpoint/2010/main" val="426635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10528-7E6F-CE17-F1CC-6C2AD7C8E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DC0CF-C299-8642-6679-BA8AE7E8EC59}"/>
              </a:ext>
            </a:extLst>
          </p:cNvPr>
          <p:cNvSpPr>
            <a:spLocks noGrp="1"/>
          </p:cNvSpPr>
          <p:nvPr>
            <p:ph type="title"/>
          </p:nvPr>
        </p:nvSpPr>
        <p:spPr/>
        <p:txBody>
          <a:bodyPr>
            <a:normAutofit/>
          </a:bodyPr>
          <a:lstStyle/>
          <a:p>
            <a:r>
              <a:rPr lang="en-US" sz="3200" b="1" dirty="0"/>
              <a:t>Implementation Challenges</a:t>
            </a:r>
          </a:p>
        </p:txBody>
      </p:sp>
      <p:sp>
        <p:nvSpPr>
          <p:cNvPr id="12" name="Content Placeholder 11">
            <a:extLst>
              <a:ext uri="{FF2B5EF4-FFF2-40B4-BE49-F238E27FC236}">
                <a16:creationId xmlns:a16="http://schemas.microsoft.com/office/drawing/2014/main" id="{93966976-CA64-577B-FF2A-2098E36B9AE1}"/>
              </a:ext>
            </a:extLst>
          </p:cNvPr>
          <p:cNvSpPr>
            <a:spLocks noGrp="1"/>
          </p:cNvSpPr>
          <p:nvPr>
            <p:ph sz="half" idx="2"/>
          </p:nvPr>
        </p:nvSpPr>
        <p:spPr>
          <a:xfrm>
            <a:off x="5439823" y="2553403"/>
            <a:ext cx="4459089" cy="2968512"/>
          </a:xfrm>
        </p:spPr>
        <p:txBody>
          <a:bodyPr/>
          <a:lstStyle/>
          <a:p>
            <a:pPr marL="0" indent="0">
              <a:buNone/>
            </a:pPr>
            <a:r>
              <a:rPr lang="en-GB" b="1" dirty="0"/>
              <a:t>Robust Input Validation</a:t>
            </a:r>
          </a:p>
          <a:p>
            <a:pPr marL="0" indent="0">
              <a:buNone/>
            </a:pPr>
            <a:r>
              <a:rPr lang="en-GB" dirty="0"/>
              <a:t>To ensure the system never crashes due to invalid user input (e.g., entering text in a price field), we built a dedicated error-handling layer. This functions as a filter, checking all inputs before processing them.</a:t>
            </a:r>
          </a:p>
        </p:txBody>
      </p:sp>
      <p:sp>
        <p:nvSpPr>
          <p:cNvPr id="16" name="Slide Number Placeholder 5">
            <a:extLst>
              <a:ext uri="{FF2B5EF4-FFF2-40B4-BE49-F238E27FC236}">
                <a16:creationId xmlns:a16="http://schemas.microsoft.com/office/drawing/2014/main" id="{51865086-4440-ECED-DCAB-5AFB9BDB5AB9}"/>
              </a:ext>
            </a:extLst>
          </p:cNvPr>
          <p:cNvSpPr>
            <a:spLocks noGrp="1"/>
          </p:cNvSpPr>
          <p:nvPr>
            <p:ph type="sldNum" sz="quarter" idx="12"/>
          </p:nvPr>
        </p:nvSpPr>
        <p:spPr/>
        <p:txBody>
          <a:bodyPr/>
          <a:lstStyle/>
          <a:p>
            <a:fld id="{A65A5C87-DF58-40C8-B092-1DE63DB4547E}" type="slidenum">
              <a:rPr lang="en-US" smtClean="0"/>
              <a:pPr/>
              <a:t>8</a:t>
            </a:fld>
            <a:endParaRPr lang="en-US" dirty="0"/>
          </a:p>
        </p:txBody>
      </p:sp>
      <p:sp>
        <p:nvSpPr>
          <p:cNvPr id="4" name="Content Placeholder 11">
            <a:extLst>
              <a:ext uri="{FF2B5EF4-FFF2-40B4-BE49-F238E27FC236}">
                <a16:creationId xmlns:a16="http://schemas.microsoft.com/office/drawing/2014/main" id="{CCE2DDF3-D2BE-9427-1064-4F1A53B487A8}"/>
              </a:ext>
            </a:extLst>
          </p:cNvPr>
          <p:cNvSpPr txBox="1">
            <a:spLocks/>
          </p:cNvSpPr>
          <p:nvPr/>
        </p:nvSpPr>
        <p:spPr>
          <a:xfrm>
            <a:off x="613539" y="2553403"/>
            <a:ext cx="4347613" cy="296851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b="1" dirty="0"/>
              <a:t>Memory Management</a:t>
            </a:r>
          </a:p>
          <a:p>
            <a:pPr marL="0" indent="0">
              <a:buNone/>
            </a:pPr>
            <a:r>
              <a:rPr lang="en-GB" dirty="0"/>
              <a:t>One of the primary challenges in C++ is manual memory management. To prevent memory leaks, we implemented a strict garbage collection routine (</a:t>
            </a:r>
            <a:r>
              <a:rPr lang="en-GB" dirty="0" err="1">
                <a:solidFill>
                  <a:srgbClr val="F5A700"/>
                </a:solidFill>
              </a:rPr>
              <a:t>clearMemoryLeak</a:t>
            </a:r>
            <a:r>
              <a:rPr lang="en-GB" dirty="0"/>
              <a:t>) that ensures every node is properly deleted and memory is freed when the program terminates.</a:t>
            </a:r>
          </a:p>
        </p:txBody>
      </p:sp>
    </p:spTree>
    <p:extLst>
      <p:ext uri="{BB962C8B-B14F-4D97-AF65-F5344CB8AC3E}">
        <p14:creationId xmlns:p14="http://schemas.microsoft.com/office/powerpoint/2010/main" val="1316019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440CB-4C0B-DEF5-4DB6-B72C98DB3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26C49-90D7-8493-803E-88AF2B1874B7}"/>
              </a:ext>
            </a:extLst>
          </p:cNvPr>
          <p:cNvSpPr>
            <a:spLocks noGrp="1"/>
          </p:cNvSpPr>
          <p:nvPr>
            <p:ph type="title"/>
          </p:nvPr>
        </p:nvSpPr>
        <p:spPr/>
        <p:txBody>
          <a:bodyPr>
            <a:normAutofit/>
          </a:bodyPr>
          <a:lstStyle/>
          <a:p>
            <a:r>
              <a:rPr lang="en-US" sz="3200" b="1" dirty="0"/>
              <a:t>System Execution And Interface</a:t>
            </a:r>
          </a:p>
        </p:txBody>
      </p:sp>
      <p:sp>
        <p:nvSpPr>
          <p:cNvPr id="12" name="Content Placeholder 11">
            <a:extLst>
              <a:ext uri="{FF2B5EF4-FFF2-40B4-BE49-F238E27FC236}">
                <a16:creationId xmlns:a16="http://schemas.microsoft.com/office/drawing/2014/main" id="{C0598F2E-2A99-1D41-7188-4B515235DD8E}"/>
              </a:ext>
            </a:extLst>
          </p:cNvPr>
          <p:cNvSpPr>
            <a:spLocks noGrp="1"/>
          </p:cNvSpPr>
          <p:nvPr>
            <p:ph sz="half" idx="2"/>
          </p:nvPr>
        </p:nvSpPr>
        <p:spPr>
          <a:xfrm>
            <a:off x="1155799" y="1592637"/>
            <a:ext cx="3619561" cy="432167"/>
          </a:xfrm>
        </p:spPr>
        <p:txBody>
          <a:bodyPr/>
          <a:lstStyle/>
          <a:p>
            <a:pPr marL="0" indent="0">
              <a:buNone/>
            </a:pPr>
            <a:r>
              <a:rPr lang="en-GB" b="1" dirty="0"/>
              <a:t>Main Menu Interface.</a:t>
            </a:r>
            <a:endParaRPr lang="en-GB" dirty="0"/>
          </a:p>
        </p:txBody>
      </p:sp>
      <p:sp>
        <p:nvSpPr>
          <p:cNvPr id="16" name="Slide Number Placeholder 5">
            <a:extLst>
              <a:ext uri="{FF2B5EF4-FFF2-40B4-BE49-F238E27FC236}">
                <a16:creationId xmlns:a16="http://schemas.microsoft.com/office/drawing/2014/main" id="{DFD8F98E-FCB3-7548-5172-7FB89750B623}"/>
              </a:ext>
            </a:extLst>
          </p:cNvPr>
          <p:cNvSpPr>
            <a:spLocks noGrp="1"/>
          </p:cNvSpPr>
          <p:nvPr>
            <p:ph type="sldNum" sz="quarter" idx="12"/>
          </p:nvPr>
        </p:nvSpPr>
        <p:spPr/>
        <p:txBody>
          <a:bodyPr/>
          <a:lstStyle/>
          <a:p>
            <a:fld id="{A65A5C87-DF58-40C8-B092-1DE63DB4547E}" type="slidenum">
              <a:rPr lang="en-US" smtClean="0"/>
              <a:pPr/>
              <a:t>9</a:t>
            </a:fld>
            <a:endParaRPr lang="en-US" dirty="0"/>
          </a:p>
        </p:txBody>
      </p:sp>
      <p:pic>
        <p:nvPicPr>
          <p:cNvPr id="5" name="Picture 4" descr="A screenshot of a computer&#10;&#10;AI-generated content may be incorrect.">
            <a:extLst>
              <a:ext uri="{FF2B5EF4-FFF2-40B4-BE49-F238E27FC236}">
                <a16:creationId xmlns:a16="http://schemas.microsoft.com/office/drawing/2014/main" id="{1FF7E403-39B7-24A0-EB61-1E4C98551345}"/>
              </a:ext>
            </a:extLst>
          </p:cNvPr>
          <p:cNvPicPr>
            <a:picLocks noChangeAspect="1"/>
          </p:cNvPicPr>
          <p:nvPr/>
        </p:nvPicPr>
        <p:blipFill>
          <a:blip r:embed="rId2"/>
          <a:stretch>
            <a:fillRect/>
          </a:stretch>
        </p:blipFill>
        <p:spPr>
          <a:xfrm>
            <a:off x="1155799" y="2024804"/>
            <a:ext cx="7934461" cy="378832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A0EC52C1-B7EB-8EB5-39CA-D101A0F3E7EC}"/>
              </a:ext>
            </a:extLst>
          </p:cNvPr>
          <p:cNvPicPr>
            <a:picLocks noChangeAspect="1"/>
          </p:cNvPicPr>
          <p:nvPr/>
        </p:nvPicPr>
        <p:blipFill>
          <a:blip r:embed="rId3"/>
          <a:stretch>
            <a:fillRect/>
          </a:stretch>
        </p:blipFill>
        <p:spPr>
          <a:xfrm>
            <a:off x="1181436" y="2056834"/>
            <a:ext cx="7908824" cy="3756295"/>
          </a:xfrm>
          <a:prstGeom prst="rect">
            <a:avLst/>
          </a:prstGeom>
        </p:spPr>
      </p:pic>
    </p:spTree>
    <p:extLst>
      <p:ext uri="{BB962C8B-B14F-4D97-AF65-F5344CB8AC3E}">
        <p14:creationId xmlns:p14="http://schemas.microsoft.com/office/powerpoint/2010/main" val="2603820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EE83-7C3D-FEE9-CCD8-1A9A68C4D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25CA0B-6500-557F-AE0B-6BF0BCF17FB7}"/>
              </a:ext>
            </a:extLst>
          </p:cNvPr>
          <p:cNvSpPr>
            <a:spLocks noGrp="1"/>
          </p:cNvSpPr>
          <p:nvPr>
            <p:ph type="title"/>
          </p:nvPr>
        </p:nvSpPr>
        <p:spPr/>
        <p:txBody>
          <a:bodyPr>
            <a:normAutofit/>
          </a:bodyPr>
          <a:lstStyle/>
          <a:p>
            <a:r>
              <a:rPr lang="en-US" sz="3200" b="1" dirty="0"/>
              <a:t>System Execution And Interface</a:t>
            </a:r>
          </a:p>
        </p:txBody>
      </p:sp>
      <p:sp>
        <p:nvSpPr>
          <p:cNvPr id="12" name="Content Placeholder 11">
            <a:extLst>
              <a:ext uri="{FF2B5EF4-FFF2-40B4-BE49-F238E27FC236}">
                <a16:creationId xmlns:a16="http://schemas.microsoft.com/office/drawing/2014/main" id="{CDEE2431-0205-C612-3833-1AE01B258B97}"/>
              </a:ext>
            </a:extLst>
          </p:cNvPr>
          <p:cNvSpPr>
            <a:spLocks noGrp="1"/>
          </p:cNvSpPr>
          <p:nvPr>
            <p:ph sz="half" idx="2"/>
          </p:nvPr>
        </p:nvSpPr>
        <p:spPr>
          <a:xfrm>
            <a:off x="1155799" y="1592637"/>
            <a:ext cx="3619561" cy="432167"/>
          </a:xfrm>
        </p:spPr>
        <p:txBody>
          <a:bodyPr/>
          <a:lstStyle/>
          <a:p>
            <a:pPr marL="0" indent="0">
              <a:buNone/>
            </a:pPr>
            <a:r>
              <a:rPr lang="en-US" b="1" dirty="0"/>
              <a:t>Adding Sections or Books:</a:t>
            </a:r>
            <a:endParaRPr lang="en-GB" b="1" dirty="0"/>
          </a:p>
        </p:txBody>
      </p:sp>
      <p:sp>
        <p:nvSpPr>
          <p:cNvPr id="16" name="Slide Number Placeholder 5">
            <a:extLst>
              <a:ext uri="{FF2B5EF4-FFF2-40B4-BE49-F238E27FC236}">
                <a16:creationId xmlns:a16="http://schemas.microsoft.com/office/drawing/2014/main" id="{E2D32B18-03BC-B33A-F104-773798440303}"/>
              </a:ext>
            </a:extLst>
          </p:cNvPr>
          <p:cNvSpPr>
            <a:spLocks noGrp="1"/>
          </p:cNvSpPr>
          <p:nvPr>
            <p:ph type="sldNum" sz="quarter" idx="12"/>
          </p:nvPr>
        </p:nvSpPr>
        <p:spPr/>
        <p:txBody>
          <a:bodyPr/>
          <a:lstStyle/>
          <a:p>
            <a:fld id="{A65A5C87-DF58-40C8-B092-1DE63DB4547E}" type="slidenum">
              <a:rPr lang="en-US" smtClean="0"/>
              <a:pPr/>
              <a:t>10</a:t>
            </a:fld>
            <a:endParaRPr lang="en-US" dirty="0"/>
          </a:p>
        </p:txBody>
      </p:sp>
      <p:pic>
        <p:nvPicPr>
          <p:cNvPr id="5" name="Picture 4" descr="A screenshot of a computer&#10;&#10;AI-generated content may be incorrect.">
            <a:extLst>
              <a:ext uri="{FF2B5EF4-FFF2-40B4-BE49-F238E27FC236}">
                <a16:creationId xmlns:a16="http://schemas.microsoft.com/office/drawing/2014/main" id="{AD36F83A-1563-0D99-80E8-D57BBFF05D6C}"/>
              </a:ext>
            </a:extLst>
          </p:cNvPr>
          <p:cNvPicPr>
            <a:picLocks noChangeAspect="1"/>
          </p:cNvPicPr>
          <p:nvPr/>
        </p:nvPicPr>
        <p:blipFill>
          <a:blip r:embed="rId2"/>
          <a:stretch>
            <a:fillRect/>
          </a:stretch>
        </p:blipFill>
        <p:spPr>
          <a:xfrm>
            <a:off x="1155799" y="2024804"/>
            <a:ext cx="7934461" cy="3788325"/>
          </a:xfrm>
          <a:prstGeom prst="rect">
            <a:avLst/>
          </a:prstGeom>
        </p:spPr>
      </p:pic>
    </p:spTree>
    <p:extLst>
      <p:ext uri="{BB962C8B-B14F-4D97-AF65-F5344CB8AC3E}">
        <p14:creationId xmlns:p14="http://schemas.microsoft.com/office/powerpoint/2010/main" val="3357386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916E6-9540-1100-CFC2-70A26F93C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F0ECF-0DA0-DDDB-4325-0A09D25092EF}"/>
              </a:ext>
            </a:extLst>
          </p:cNvPr>
          <p:cNvSpPr>
            <a:spLocks noGrp="1"/>
          </p:cNvSpPr>
          <p:nvPr>
            <p:ph type="title"/>
          </p:nvPr>
        </p:nvSpPr>
        <p:spPr/>
        <p:txBody>
          <a:bodyPr>
            <a:normAutofit/>
          </a:bodyPr>
          <a:lstStyle/>
          <a:p>
            <a:r>
              <a:rPr lang="en-US" sz="3200" b="1" dirty="0"/>
              <a:t>System Execution And Interface</a:t>
            </a:r>
          </a:p>
        </p:txBody>
      </p:sp>
      <p:sp>
        <p:nvSpPr>
          <p:cNvPr id="12" name="Content Placeholder 11">
            <a:extLst>
              <a:ext uri="{FF2B5EF4-FFF2-40B4-BE49-F238E27FC236}">
                <a16:creationId xmlns:a16="http://schemas.microsoft.com/office/drawing/2014/main" id="{A59D254A-CCCE-00C0-7860-6DF59D48EA39}"/>
              </a:ext>
            </a:extLst>
          </p:cNvPr>
          <p:cNvSpPr>
            <a:spLocks noGrp="1"/>
          </p:cNvSpPr>
          <p:nvPr>
            <p:ph sz="half" idx="2"/>
          </p:nvPr>
        </p:nvSpPr>
        <p:spPr>
          <a:xfrm>
            <a:off x="1155799" y="1592637"/>
            <a:ext cx="3619561" cy="432167"/>
          </a:xfrm>
        </p:spPr>
        <p:txBody>
          <a:bodyPr/>
          <a:lstStyle/>
          <a:p>
            <a:pPr marL="0" indent="0">
              <a:buNone/>
            </a:pPr>
            <a:r>
              <a:rPr lang="en-US" b="1" dirty="0"/>
              <a:t>Search Results Display:</a:t>
            </a:r>
            <a:endParaRPr lang="en-GB" b="1" dirty="0"/>
          </a:p>
        </p:txBody>
      </p:sp>
      <p:sp>
        <p:nvSpPr>
          <p:cNvPr id="16" name="Slide Number Placeholder 5">
            <a:extLst>
              <a:ext uri="{FF2B5EF4-FFF2-40B4-BE49-F238E27FC236}">
                <a16:creationId xmlns:a16="http://schemas.microsoft.com/office/drawing/2014/main" id="{DBFEFA11-8BF9-5424-780A-89D1B290A8ED}"/>
              </a:ext>
            </a:extLst>
          </p:cNvPr>
          <p:cNvSpPr>
            <a:spLocks noGrp="1"/>
          </p:cNvSpPr>
          <p:nvPr>
            <p:ph type="sldNum" sz="quarter" idx="12"/>
          </p:nvPr>
        </p:nvSpPr>
        <p:spPr/>
        <p:txBody>
          <a:bodyPr/>
          <a:lstStyle/>
          <a:p>
            <a:fld id="{A65A5C87-DF58-40C8-B092-1DE63DB4547E}" type="slidenum">
              <a:rPr lang="en-US" smtClean="0"/>
              <a:pPr/>
              <a:t>11</a:t>
            </a:fld>
            <a:endParaRPr lang="en-US" dirty="0"/>
          </a:p>
        </p:txBody>
      </p:sp>
      <p:pic>
        <p:nvPicPr>
          <p:cNvPr id="5" name="Picture 4" descr="A screenshot of a computer&#10;&#10;AI-generated content may be incorrect.">
            <a:extLst>
              <a:ext uri="{FF2B5EF4-FFF2-40B4-BE49-F238E27FC236}">
                <a16:creationId xmlns:a16="http://schemas.microsoft.com/office/drawing/2014/main" id="{4C562BF6-E452-AD46-2A4F-EFC0DDEAED08}"/>
              </a:ext>
            </a:extLst>
          </p:cNvPr>
          <p:cNvPicPr>
            <a:picLocks noChangeAspect="1"/>
          </p:cNvPicPr>
          <p:nvPr/>
        </p:nvPicPr>
        <p:blipFill>
          <a:blip r:embed="rId2"/>
          <a:stretch>
            <a:fillRect/>
          </a:stretch>
        </p:blipFill>
        <p:spPr>
          <a:xfrm>
            <a:off x="1155799" y="2024804"/>
            <a:ext cx="7934461" cy="378832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A50A83D-8954-F592-AE56-BCF827C502D8}"/>
              </a:ext>
            </a:extLst>
          </p:cNvPr>
          <p:cNvPicPr>
            <a:picLocks noChangeAspect="1"/>
          </p:cNvPicPr>
          <p:nvPr/>
        </p:nvPicPr>
        <p:blipFill>
          <a:blip r:embed="rId3"/>
          <a:stretch>
            <a:fillRect/>
          </a:stretch>
        </p:blipFill>
        <p:spPr>
          <a:xfrm>
            <a:off x="1155799" y="2024804"/>
            <a:ext cx="7934461" cy="3788325"/>
          </a:xfrm>
          <a:prstGeom prst="rect">
            <a:avLst/>
          </a:prstGeom>
        </p:spPr>
      </p:pic>
    </p:spTree>
    <p:extLst>
      <p:ext uri="{BB962C8B-B14F-4D97-AF65-F5344CB8AC3E}">
        <p14:creationId xmlns:p14="http://schemas.microsoft.com/office/powerpoint/2010/main" val="1199783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4A85B-2AC6-4E29-B074-AB92F8FA9BB1}"/>
              </a:ext>
            </a:extLst>
          </p:cNvPr>
          <p:cNvSpPr>
            <a:spLocks noGrp="1"/>
          </p:cNvSpPr>
          <p:nvPr>
            <p:ph type="title"/>
          </p:nvPr>
        </p:nvSpPr>
        <p:spPr/>
        <p:txBody>
          <a:bodyPr/>
          <a:lstStyle/>
          <a:p>
            <a:r>
              <a:rPr lang="en-US" b="1" dirty="0">
                <a:solidFill>
                  <a:srgbClr val="F5A700"/>
                </a:solidFill>
              </a:rPr>
              <a:t>Conclusion</a:t>
            </a:r>
          </a:p>
        </p:txBody>
      </p:sp>
      <p:sp>
        <p:nvSpPr>
          <p:cNvPr id="3" name="Content Placeholder 2">
            <a:extLst>
              <a:ext uri="{FF2B5EF4-FFF2-40B4-BE49-F238E27FC236}">
                <a16:creationId xmlns:a16="http://schemas.microsoft.com/office/drawing/2014/main" id="{E32AB0EB-0819-41F4-99E9-C02FA0DAF66D}"/>
              </a:ext>
            </a:extLst>
          </p:cNvPr>
          <p:cNvSpPr>
            <a:spLocks noGrp="1"/>
          </p:cNvSpPr>
          <p:nvPr>
            <p:ph idx="1"/>
          </p:nvPr>
        </p:nvSpPr>
        <p:spPr/>
        <p:txBody>
          <a:bodyPr/>
          <a:lstStyle/>
          <a:p>
            <a:pPr marL="0" indent="0"/>
            <a:r>
              <a:rPr lang="en-GB" b="1" dirty="0"/>
              <a:t>Summary Statement:</a:t>
            </a:r>
            <a:r>
              <a:rPr lang="en-GB" dirty="0"/>
              <a:t> This project served as a practical application of core Data Structures. By building Linked Lists from scratch, we moved away from the limitations of fixed arrays and embraced dynamic memory allocation. The result is a modular, efficient, and stable Library Management System.</a:t>
            </a:r>
            <a:endParaRPr lang="en-US" dirty="0"/>
          </a:p>
        </p:txBody>
      </p:sp>
      <p:sp>
        <p:nvSpPr>
          <p:cNvPr id="6" name="Slide Number Placeholder 5">
            <a:extLst>
              <a:ext uri="{FF2B5EF4-FFF2-40B4-BE49-F238E27FC236}">
                <a16:creationId xmlns:a16="http://schemas.microsoft.com/office/drawing/2014/main" id="{B49FA539-2DA6-4197-AA13-56E0C33955F2}"/>
              </a:ext>
            </a:extLst>
          </p:cNvPr>
          <p:cNvSpPr>
            <a:spLocks noGrp="1"/>
          </p:cNvSpPr>
          <p:nvPr>
            <p:ph type="sldNum" sz="quarter" idx="12"/>
          </p:nvPr>
        </p:nvSpPr>
        <p:spPr/>
        <p:txBody>
          <a:bodyPr/>
          <a:lstStyle/>
          <a:p>
            <a:fld id="{A65A5C87-DF58-40C8-B092-1DE63DB4547E}" type="slidenum">
              <a:rPr lang="en-US" smtClean="0"/>
              <a:t>12</a:t>
            </a:fld>
            <a:endParaRPr lang="en-US" dirty="0"/>
          </a:p>
        </p:txBody>
      </p:sp>
      <p:pic>
        <p:nvPicPr>
          <p:cNvPr id="10" name="Picture Placeholder 9" descr="A logo with blue circles and text&#10;&#10;AI-generated content may be incorrect.">
            <a:extLst>
              <a:ext uri="{FF2B5EF4-FFF2-40B4-BE49-F238E27FC236}">
                <a16:creationId xmlns:a16="http://schemas.microsoft.com/office/drawing/2014/main" id="{F24CE01D-CEB0-8969-408E-F3C5565012C8}"/>
              </a:ext>
            </a:extLst>
          </p:cNvPr>
          <p:cNvPicPr>
            <a:picLocks noGrp="1" noChangeAspect="1"/>
          </p:cNvPicPr>
          <p:nvPr>
            <p:ph type="pic" sz="quarter" idx="13"/>
          </p:nvPr>
        </p:nvPicPr>
        <p:blipFill>
          <a:blip r:embed="rId2"/>
          <a:srcRect l="14556" r="14556"/>
          <a:stretch>
            <a:fillRect/>
          </a:stretch>
        </p:blipFill>
        <p:spPr/>
      </p:pic>
    </p:spTree>
    <p:extLst>
      <p:ext uri="{BB962C8B-B14F-4D97-AF65-F5344CB8AC3E}">
        <p14:creationId xmlns:p14="http://schemas.microsoft.com/office/powerpoint/2010/main" val="41678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EB919-4F65-4B5E-ADF3-272AD780E102}"/>
              </a:ext>
            </a:extLst>
          </p:cNvPr>
          <p:cNvSpPr>
            <a:spLocks noGrp="1"/>
          </p:cNvSpPr>
          <p:nvPr>
            <p:ph type="title"/>
          </p:nvPr>
        </p:nvSpPr>
        <p:spPr/>
        <p:txBody>
          <a:bodyPr/>
          <a:lstStyle/>
          <a:p>
            <a:r>
              <a:rPr lang="en-US" b="1" dirty="0"/>
              <a:t>Thank You</a:t>
            </a:r>
            <a:endParaRPr lang="en-US" dirty="0"/>
          </a:p>
        </p:txBody>
      </p:sp>
      <p:sp>
        <p:nvSpPr>
          <p:cNvPr id="3" name="Text Placeholder 2">
            <a:extLst>
              <a:ext uri="{FF2B5EF4-FFF2-40B4-BE49-F238E27FC236}">
                <a16:creationId xmlns:a16="http://schemas.microsoft.com/office/drawing/2014/main" id="{3FF48DDF-62CA-455C-A7CB-AB86D3378A86}"/>
              </a:ext>
            </a:extLst>
          </p:cNvPr>
          <p:cNvSpPr>
            <a:spLocks noGrp="1"/>
          </p:cNvSpPr>
          <p:nvPr>
            <p:ph type="body" idx="1"/>
          </p:nvPr>
        </p:nvSpPr>
        <p:spPr/>
        <p:txBody>
          <a:bodyPr/>
          <a:lstStyle/>
          <a:p>
            <a:pPr algn="ctr"/>
            <a:r>
              <a:rPr lang="en-US" b="1" dirty="0"/>
              <a:t>Any Questions?</a:t>
            </a:r>
            <a:endParaRPr lang="en-US" b="1" dirty="0">
              <a:solidFill>
                <a:schemeClr val="tx1"/>
              </a:solidFill>
            </a:endParaRPr>
          </a:p>
        </p:txBody>
      </p:sp>
      <p:sp>
        <p:nvSpPr>
          <p:cNvPr id="6" name="Slide Number Placeholder 5">
            <a:extLst>
              <a:ext uri="{FF2B5EF4-FFF2-40B4-BE49-F238E27FC236}">
                <a16:creationId xmlns:a16="http://schemas.microsoft.com/office/drawing/2014/main" id="{701FBF44-1F57-4664-8847-9214C41B42E9}"/>
              </a:ext>
            </a:extLst>
          </p:cNvPr>
          <p:cNvSpPr>
            <a:spLocks noGrp="1"/>
          </p:cNvSpPr>
          <p:nvPr>
            <p:ph type="sldNum" sz="quarter" idx="12"/>
          </p:nvPr>
        </p:nvSpPr>
        <p:spPr/>
        <p:txBody>
          <a:bodyPr/>
          <a:lstStyle/>
          <a:p>
            <a:fld id="{A65A5C87-DF58-40C8-B092-1DE63DB4547E}" type="slidenum">
              <a:rPr lang="en-US" smtClean="0"/>
              <a:t>13</a:t>
            </a:fld>
            <a:endParaRPr lang="en-US" dirty="0"/>
          </a:p>
        </p:txBody>
      </p:sp>
    </p:spTree>
    <p:extLst>
      <p:ext uri="{BB962C8B-B14F-4D97-AF65-F5344CB8AC3E}">
        <p14:creationId xmlns:p14="http://schemas.microsoft.com/office/powerpoint/2010/main" val="23605876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Facet">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0D7697-8E53-4EA8-8CBB-9C19575257B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915</TotalTime>
  <Words>702</Words>
  <Application>Microsoft Office PowerPoint</Application>
  <PresentationFormat>شاشة عريضة</PresentationFormat>
  <Paragraphs>87</Paragraphs>
  <Slides>13</Slides>
  <Notes>1</Notes>
  <HiddenSlides>0</HiddenSlides>
  <MMClips>0</MMClips>
  <ScaleCrop>false</ScaleCrop>
  <HeadingPairs>
    <vt:vector size="6" baseType="variant">
      <vt:variant>
        <vt:lpstr>الخطوط المستخدمة</vt:lpstr>
      </vt:variant>
      <vt:variant>
        <vt:i4>6</vt:i4>
      </vt:variant>
      <vt:variant>
        <vt:lpstr>نسق</vt:lpstr>
      </vt:variant>
      <vt:variant>
        <vt:i4>2</vt:i4>
      </vt:variant>
      <vt:variant>
        <vt:lpstr>عناوين الشرائح</vt:lpstr>
      </vt:variant>
      <vt:variant>
        <vt:i4>13</vt:i4>
      </vt:variant>
    </vt:vector>
  </HeadingPairs>
  <TitlesOfParts>
    <vt:vector size="21" baseType="lpstr">
      <vt:lpstr>Arial</vt:lpstr>
      <vt:lpstr>Avenir Next LT Pro</vt:lpstr>
      <vt:lpstr>Calibri</vt:lpstr>
      <vt:lpstr>Segoe UI</vt:lpstr>
      <vt:lpstr>Trebuchet MS</vt:lpstr>
      <vt:lpstr>Wingdings 3</vt:lpstr>
      <vt:lpstr>AccentBoxVTI</vt:lpstr>
      <vt:lpstr>Facet</vt:lpstr>
      <vt:lpstr>Kingdom of Saudi Arabia Ministry of Education King Faisal University College of Computer Sciences  &amp; Information Technology </vt:lpstr>
      <vt:lpstr>Group: E</vt:lpstr>
      <vt:lpstr>Project Overview</vt:lpstr>
      <vt:lpstr>Data Structures Implemented</vt:lpstr>
      <vt:lpstr> Algorithm Used: Merge Sort </vt:lpstr>
      <vt:lpstr>Algorithms: Searching</vt:lpstr>
      <vt:lpstr>Complexity Analysis</vt:lpstr>
      <vt:lpstr>Implementation Challenges</vt:lpstr>
      <vt:lpstr>System Execution And Interface</vt:lpstr>
      <vt:lpstr>System Execution And Interface</vt:lpstr>
      <vt:lpstr>System Execution And Interface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محمد حسن عبدالمحسن الجاسم</dc:creator>
  <cp:lastModifiedBy>رضا القطيفي</cp:lastModifiedBy>
  <cp:revision>3</cp:revision>
  <dcterms:created xsi:type="dcterms:W3CDTF">2025-12-13T07:14:56Z</dcterms:created>
  <dcterms:modified xsi:type="dcterms:W3CDTF">2026-09-07T12:16:06Z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